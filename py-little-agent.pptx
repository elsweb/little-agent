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Central Robótica Interativa</a:t>
            </a:r>
          </a:p>
          <a:p>
            <a:pPr>
              <a:spcAft>
                <a:spcPts val="2000"/>
              </a:spcAft>
              <a:defRPr sz="2400">
                <a:solidFill>
                  <a:srgbClr val="FF6B35"/>
                </a:solidFill>
                <a:latin typeface="Arial"/>
              </a:defRPr>
            </a:pPr>
            <a:r>
              <a:t>Do protótipo no celular ao ESP32</a:t>
            </a:r>
          </a:p>
          <a:p>
            <a:pPr>
              <a:defRPr sz="1600">
                <a:solidFill>
                  <a:srgbClr val="737D84"/>
                </a:solidFill>
                <a:latin typeface="Calibri"/>
              </a:defRPr>
            </a:pPr>
            <a:r>
              <a:t>Uma central capaz de perceber, interagir e controlar periféricos modulares.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F2F5"/>
                </a:solidFill>
                <a:latin typeface="Arial"/>
              </a:defRPr>
            </a:pPr>
            <a:r>
              <a:t>ROBOTICS  •  COMPUTER VISION  •  BLUETOOTH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Arial"/>
              </a:defRPr>
            </a:pPr>
            <a:r>
              <a:t>Visão do Projeto: Uma Plataforma Integrada de Controle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1371600" cy="25400"/>
          </a:xfrm>
          <a:prstGeom prst="rect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91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6B35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Interface de Controle</a:t>
            </a:r>
          </a:p>
          <a:p>
            <a:pPr>
              <a:lnSpc>
                <a:spcPct val="115000"/>
              </a:lnSpc>
              <a:defRPr sz="1500">
                <a:solidFill>
                  <a:srgbClr val="1A242B"/>
                </a:solidFill>
                <a:latin typeface="Calibri"/>
              </a:defRPr>
            </a:pPr>
            <a:r>
              <a:t>O celular antigo funciona como o primeiro protótipo da central, permitindo validar e testar a experiência de uso real do agente interativo de forma rápida, antes de migrar toda a lógica operacional para o ESP32.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2011680"/>
            <a:ext cx="1371600" cy="25400"/>
          </a:xfrm>
          <a:prstGeom prst="rect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2103120"/>
            <a:ext cx="3291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6B35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Percepção do Ambiente</a:t>
            </a:r>
          </a:p>
          <a:p>
            <a:pPr>
              <a:lnSpc>
                <a:spcPct val="115000"/>
              </a:lnSpc>
              <a:defRPr sz="1500">
                <a:solidFill>
                  <a:srgbClr val="1A242B"/>
                </a:solidFill>
                <a:latin typeface="Calibri"/>
              </a:defRPr>
            </a:pPr>
            <a:r>
              <a:t>A câmera do dispositivo atua como o sensor principal da central, capturando o ambiente em tempo real e servindo como entrada direta para algoritmos de visão capazes de reconhecer sinais e gestos humanos.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80" y="2011680"/>
            <a:ext cx="1371600" cy="25400"/>
          </a:xfrm>
          <a:prstGeom prst="rect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103120"/>
            <a:ext cx="3291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6B35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Ação e Controle</a:t>
            </a:r>
          </a:p>
          <a:p>
            <a:pPr>
              <a:lnSpc>
                <a:spcPct val="115000"/>
              </a:lnSpc>
              <a:defRPr sz="1500">
                <a:solidFill>
                  <a:srgbClr val="1A242B"/>
                </a:solidFill>
                <a:latin typeface="Calibri"/>
              </a:defRPr>
            </a:pPr>
            <a:r>
              <a:t>Por meio de conexões Bluetooth e atuadores como a lanterna integrada, a central comanda dispositivos periféricos diversos, sinaliza estados de operação em tempo real e controla robôs como um carro móvel.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Arial"/>
              </a:defRPr>
            </a:pPr>
            <a:r>
              <a:t>Conceito Central: Um 'Tamagotchi' Robótico Interativo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07289"/>
                </a:solidFill>
                <a:latin typeface="Arial"/>
              </a:defRPr>
            </a:pPr>
            <a:r>
              <a:t>O Agente Funciona como Laboratório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600">
                <a:solidFill>
                  <a:srgbClr val="1A242B"/>
                </a:solidFill>
                <a:latin typeface="Calibri"/>
              </a:defRPr>
            </a:pPr>
            <a:r>
              <a:t>• O agente vive na tela do celular e interage dinamicamente com a presença física e os movimentos do usuário.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600">
                <a:solidFill>
                  <a:srgbClr val="1A242B"/>
                </a:solidFill>
                <a:latin typeface="Calibri"/>
              </a:defRPr>
            </a:pPr>
            <a:r>
              <a:t>• A câmera monitora o ambiente constantemente para identificar padrões de sinais simples feitos com as mãos.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600">
                <a:solidFill>
                  <a:srgbClr val="1A242B"/>
                </a:solidFill>
                <a:latin typeface="Calibri"/>
              </a:defRPr>
            </a:pPr>
            <a:r>
              <a:t>• Cada sinal detectado dispara instantaneamente uma reação programada: mover, acender LEDs, piscar luzes ou emitir alertas.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600">
                <a:solidFill>
                  <a:srgbClr val="1A242B"/>
                </a:solidFill>
                <a:latin typeface="Calibri"/>
              </a:defRPr>
            </a:pPr>
            <a:r>
              <a:t>• Toda a lógica de comportamento e a máquina de estados desenvolvidas nesta fase serão integralmente reaproveitadas no ESP32.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011680"/>
            <a:ext cx="2560320" cy="1645920"/>
          </a:xfrm>
          <a:prstGeom prst="rect">
            <a:avLst/>
          </a:prstGeom>
          <a:solidFill>
            <a:srgbClr val="EEF2F6"/>
          </a:solidFill>
          <a:ln w="12700">
            <a:solidFill>
              <a:srgbClr val="007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500"/>
              </a:spcAft>
              <a:defRPr sz="1800" b="1">
                <a:solidFill>
                  <a:srgbClr val="FF6B35"/>
                </a:solidFill>
                <a:latin typeface="Arial"/>
              </a:defRPr>
            </a:pPr>
            <a:r>
              <a:t>✋ Mão aberta</a:t>
            </a:r>
          </a:p>
          <a:p>
            <a:pPr>
              <a:defRPr sz="1300">
                <a:solidFill>
                  <a:srgbClr val="1A242B"/>
                </a:solidFill>
                <a:latin typeface="Calibri"/>
              </a:defRPr>
            </a:pPr>
            <a:r>
              <a:t>Provoca a ação 'olá' e inicia a comunicação visual.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2011680"/>
            <a:ext cx="2560320" cy="1645920"/>
          </a:xfrm>
          <a:prstGeom prst="rect">
            <a:avLst/>
          </a:prstGeom>
          <a:solidFill>
            <a:srgbClr val="EEF2F6"/>
          </a:solidFill>
          <a:ln w="12700">
            <a:solidFill>
              <a:srgbClr val="007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500"/>
              </a:spcAft>
              <a:defRPr sz="1800" b="1">
                <a:solidFill>
                  <a:srgbClr val="FF6B35"/>
                </a:solidFill>
                <a:latin typeface="Arial"/>
              </a:defRPr>
            </a:pPr>
            <a:r>
              <a:t>👍 Polegar</a:t>
            </a:r>
          </a:p>
          <a:p>
            <a:pPr>
              <a:defRPr sz="1300">
                <a:solidFill>
                  <a:srgbClr val="1A242B"/>
                </a:solidFill>
                <a:latin typeface="Calibri"/>
              </a:defRPr>
            </a:pPr>
            <a:r>
              <a:t>Usado para confirmar ações ou comandos de prontidão.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31920"/>
            <a:ext cx="2560320" cy="1645920"/>
          </a:xfrm>
          <a:prstGeom prst="rect">
            <a:avLst/>
          </a:prstGeom>
          <a:solidFill>
            <a:srgbClr val="EEF2F6"/>
          </a:solidFill>
          <a:ln w="12700">
            <a:solidFill>
              <a:srgbClr val="007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500"/>
              </a:spcAft>
              <a:defRPr sz="1800" b="1">
                <a:solidFill>
                  <a:srgbClr val="FF6B35"/>
                </a:solidFill>
                <a:latin typeface="Arial"/>
              </a:defRPr>
            </a:pPr>
            <a:r>
              <a:t>👋 Aceno</a:t>
            </a:r>
          </a:p>
          <a:p>
            <a:pPr>
              <a:defRPr sz="1300">
                <a:solidFill>
                  <a:srgbClr val="1A242B"/>
                </a:solidFill>
                <a:latin typeface="Calibri"/>
              </a:defRPr>
            </a:pPr>
            <a:r>
              <a:t>Ativa o modo de interação contínuo da central.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3931920"/>
            <a:ext cx="2560320" cy="1645920"/>
          </a:xfrm>
          <a:prstGeom prst="rect">
            <a:avLst/>
          </a:prstGeom>
          <a:solidFill>
            <a:srgbClr val="EEF2F6"/>
          </a:solidFill>
          <a:ln w="12700">
            <a:solidFill>
              <a:srgbClr val="007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500"/>
              </a:spcAft>
              <a:defRPr sz="1800" b="1">
                <a:solidFill>
                  <a:srgbClr val="FF6B35"/>
                </a:solidFill>
                <a:latin typeface="Arial"/>
              </a:defRPr>
            </a:pPr>
            <a:r>
              <a:t>✊ Punho</a:t>
            </a:r>
          </a:p>
          <a:p>
            <a:pPr>
              <a:defRPr sz="1300">
                <a:solidFill>
                  <a:srgbClr val="1A242B"/>
                </a:solidFill>
                <a:latin typeface="Calibri"/>
              </a:defRPr>
            </a:pPr>
            <a:r>
              <a:t>Sinal de interrupção instantânea (parar todas as ações).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Arial"/>
              </a:defRPr>
            </a:pPr>
            <a:r>
              <a:t>Arquitetura Logicamente Desacoplada e Modular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37D84"/>
                </a:solidFill>
                <a:latin typeface="Calibri"/>
              </a:defRPr>
            </a:pPr>
            <a:r>
              <a:t>A separação estrita entre percepção, decisão e execução facilita a evolução e a futura migração de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737D84"/>
                </a:solidFill>
                <a:latin typeface="Arial"/>
              </a:defRPr>
            </a:pPr>
            <a:r>
              <a:t>01 CAPTURA</a:t>
            </a:r>
          </a:p>
          <a:p>
            <a:pPr>
              <a:spcAft>
                <a:spcPts val="12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CÂMERA</a:t>
            </a:r>
          </a:p>
          <a:p>
            <a:pPr>
              <a:defRPr sz="1400">
                <a:solidFill>
                  <a:srgbClr val="1A242B"/>
                </a:solidFill>
                <a:latin typeface="Calibri"/>
              </a:defRPr>
            </a:pPr>
            <a:r>
              <a:t>Registra gestos e monitora as condições do ambiente ao redor.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246888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3200400" y="3474720"/>
            <a:ext cx="182880" cy="365760"/>
          </a:xfrm>
          <a:prstGeom prst="chevron">
            <a:avLst/>
          </a:prstGeom>
          <a:solidFill>
            <a:srgbClr val="73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219456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737D84"/>
                </a:solidFill>
                <a:latin typeface="Arial"/>
              </a:defRPr>
            </a:pPr>
            <a:r>
              <a:t>02 INTERPRETA</a:t>
            </a:r>
          </a:p>
          <a:p>
            <a:pPr>
              <a:spcAft>
                <a:spcPts val="12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AGENTE</a:t>
            </a:r>
          </a:p>
          <a:p>
            <a:pPr>
              <a:defRPr sz="1400">
                <a:solidFill>
                  <a:srgbClr val="1A242B"/>
                </a:solidFill>
                <a:latin typeface="Calibri"/>
              </a:defRPr>
            </a:pPr>
            <a:r>
              <a:t>Processa o feed de vídeo localmente para detecção dos sinais.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194560"/>
            <a:ext cx="2468880" cy="76200"/>
          </a:xfrm>
          <a:prstGeom prst="rect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5943600" y="3474720"/>
            <a:ext cx="182880" cy="365760"/>
          </a:xfrm>
          <a:prstGeom prst="chevron">
            <a:avLst/>
          </a:prstGeom>
          <a:solidFill>
            <a:srgbClr val="73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19456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737D84"/>
                </a:solidFill>
                <a:latin typeface="Arial"/>
              </a:defRPr>
            </a:pPr>
            <a:r>
              <a:t>03 DECIDE</a:t>
            </a:r>
          </a:p>
          <a:p>
            <a:pPr>
              <a:spcAft>
                <a:spcPts val="12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CENTRAL</a:t>
            </a:r>
          </a:p>
          <a:p>
            <a:pPr>
              <a:defRPr sz="1400">
                <a:solidFill>
                  <a:srgbClr val="1A242B"/>
                </a:solidFill>
                <a:latin typeface="Calibri"/>
              </a:defRPr>
            </a:pPr>
            <a:r>
              <a:t>Determina as ações com base na lógica e na máquina de estados.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94560"/>
            <a:ext cx="246888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686800" y="3474720"/>
            <a:ext cx="182880" cy="365760"/>
          </a:xfrm>
          <a:prstGeom prst="chevron">
            <a:avLst/>
          </a:prstGeom>
          <a:solidFill>
            <a:srgbClr val="73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219456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737D84"/>
                </a:solidFill>
                <a:latin typeface="Arial"/>
              </a:defRPr>
            </a:pPr>
            <a:r>
              <a:t>04 EXECUTA</a:t>
            </a:r>
          </a:p>
          <a:p>
            <a:pPr>
              <a:spcAft>
                <a:spcPts val="12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BLUETOOTH</a:t>
            </a:r>
          </a:p>
          <a:p>
            <a:pPr>
              <a:defRPr sz="1400">
                <a:solidFill>
                  <a:srgbClr val="1A242B"/>
                </a:solidFill>
                <a:latin typeface="Calibri"/>
              </a:defRPr>
            </a:pPr>
            <a:r>
              <a:t>Envia comandos para controlar e movimentar os periféricos.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194560"/>
            <a:ext cx="2468880" cy="76200"/>
          </a:xfrm>
          <a:prstGeom prst="rect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Arial"/>
              </a:defRPr>
            </a:pPr>
            <a:r>
              <a:t>Evolução em Fases: Validar Rápido e Incrementar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246888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 bIns="182880"/>
          <a:lstStyle/>
          <a:p>
            <a:pPr algn="ctr">
              <a:spcAft>
                <a:spcPts val="5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Fase 1</a:t>
            </a:r>
          </a:p>
          <a:p>
            <a:pPr>
              <a:spcAft>
                <a:spcPts val="15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Celular Antigo</a:t>
            </a:r>
          </a:p>
          <a:p>
            <a:pPr>
              <a:lnSpc>
                <a:spcPct val="115000"/>
              </a:lnSpc>
              <a:defRPr sz="1400">
                <a:solidFill>
                  <a:srgbClr val="1A242B"/>
                </a:solidFill>
                <a:latin typeface="Calibri"/>
              </a:defRPr>
            </a:pPr>
            <a:r>
              <a:t>Provar a viabilidade física da interação em tempo real, testando algoritmos de detecção visual e validando as reações lógicas do agente inteligente na tela.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828800"/>
            <a:ext cx="246888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 bIns="182880"/>
          <a:lstStyle/>
          <a:p>
            <a:pPr algn="ctr">
              <a:spcAft>
                <a:spcPts val="5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Fase 2</a:t>
            </a:r>
          </a:p>
          <a:p>
            <a:pPr>
              <a:spcAft>
                <a:spcPts val="15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Controle Bluetooth</a:t>
            </a:r>
          </a:p>
          <a:p>
            <a:pPr>
              <a:lnSpc>
                <a:spcPct val="115000"/>
              </a:lnSpc>
              <a:defRPr sz="1400">
                <a:solidFill>
                  <a:srgbClr val="1A242B"/>
                </a:solidFill>
                <a:latin typeface="Calibri"/>
              </a:defRPr>
            </a:pPr>
            <a:r>
              <a:t>Implementar a camada de comunicação sem fios e enviar os primeiros comandos de teste a periféricos físicos, tais como um pequeno carrinho motorizado.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246888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 bIns="182880"/>
          <a:lstStyle/>
          <a:p>
            <a:pPr algn="ctr">
              <a:spcAft>
                <a:spcPts val="5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Fase 3</a:t>
            </a:r>
          </a:p>
          <a:p>
            <a:pPr>
              <a:spcAft>
                <a:spcPts val="15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Central Física</a:t>
            </a:r>
          </a:p>
          <a:p>
            <a:pPr>
              <a:lnSpc>
                <a:spcPct val="115000"/>
              </a:lnSpc>
              <a:defRPr sz="1400">
                <a:solidFill>
                  <a:srgbClr val="1A242B"/>
                </a:solidFill>
                <a:latin typeface="Calibri"/>
              </a:defRPr>
            </a:pPr>
            <a:r>
              <a:t>Migrar em definitivo toda a inteligência do agente e lógica de controle para o microcontrolador ESP32, realizando a integração nativa com câmeras dedicadas.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1828800"/>
            <a:ext cx="246888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 bIns="182880"/>
          <a:lstStyle/>
          <a:p>
            <a:pPr algn="ctr">
              <a:spcAft>
                <a:spcPts val="5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Fase 4</a:t>
            </a:r>
          </a:p>
          <a:p>
            <a:pPr>
              <a:spcAft>
                <a:spcPts val="1500"/>
              </a:spcAft>
              <a:defRPr sz="2000" b="1">
                <a:solidFill>
                  <a:srgbClr val="007289"/>
                </a:solidFill>
                <a:latin typeface="Arial"/>
              </a:defRPr>
            </a:pPr>
            <a:r>
              <a:t>Ecossistema Completo</a:t>
            </a:r>
          </a:p>
          <a:p>
            <a:pPr>
              <a:lnSpc>
                <a:spcPct val="115000"/>
              </a:lnSpc>
              <a:defRPr sz="1400">
                <a:solidFill>
                  <a:srgbClr val="1A242B"/>
                </a:solidFill>
                <a:latin typeface="Calibri"/>
              </a:defRPr>
            </a:pPr>
            <a:r>
              <a:t>Expandir a central conectando múltiplos sensores, automatizando tarefas complexas e integrando novos periféricos independentes e articulados.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Arial"/>
              </a:defRPr>
            </a:pPr>
            <a:r>
              <a:t>Caso de Uso: Central como Ponte de Comando para Carrinho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7289"/>
                </a:solidFill>
                <a:latin typeface="Arial"/>
              </a:defRPr>
            </a:pPr>
            <a:r>
              <a:t>Fluxo Geral de Funcionamento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500">
                <a:solidFill>
                  <a:srgbClr val="1A242B"/>
                </a:solidFill>
                <a:latin typeface="Calibri"/>
              </a:defRPr>
            </a:pPr>
            <a:r>
              <a:t>1. O usuário realiza um gesto específico diante da câmera do celular.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500">
                <a:solidFill>
                  <a:srgbClr val="1A242B"/>
                </a:solidFill>
                <a:latin typeface="Calibri"/>
              </a:defRPr>
            </a:pPr>
            <a:r>
              <a:t>2. O agente processa a imagem localmente e interpreta o gesto.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500">
                <a:solidFill>
                  <a:srgbClr val="1A242B"/>
                </a:solidFill>
                <a:latin typeface="Calibri"/>
              </a:defRPr>
            </a:pPr>
            <a:r>
              <a:t>3. A central traduz o gesto em um comando lógico de comando.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500">
                <a:solidFill>
                  <a:srgbClr val="1A242B"/>
                </a:solidFill>
                <a:latin typeface="Calibri"/>
              </a:defRPr>
            </a:pPr>
            <a:r>
              <a:t>4. O comando é empacotado e enviado de forma transparente via Bluetooth.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500">
                <a:solidFill>
                  <a:srgbClr val="1A242B"/>
                </a:solidFill>
                <a:latin typeface="Calibri"/>
              </a:defRPr>
            </a:pPr>
            <a:r>
              <a:t>5. O carro robótico recebe a instrução e executa a movimentação física.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500">
                <a:solidFill>
                  <a:srgbClr val="1A242B"/>
                </a:solidFill>
                <a:latin typeface="Calibri"/>
              </a:defRPr>
            </a:pPr>
            <a:r>
              <a:t>6. A lanterna emite flashes sinalizando o estado atual da central.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828800"/>
          <a:ext cx="49194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90672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Gesto / Comando</a:t>
                      </a:r>
                    </a:p>
                  </a:txBody>
                  <a:tcPr>
                    <a:solidFill>
                      <a:srgbClr val="0072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 no Carrinho / Central</a:t>
                      </a:r>
                    </a:p>
                  </a:txBody>
                  <a:tcPr>
                    <a:solidFill>
                      <a:srgbClr val="00728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6B35"/>
                          </a:solidFill>
                          <a:latin typeface="Arial"/>
                        </a:defRPr>
                      </a:pPr>
                      <a:r>
                        <a:t>↑ Avançar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O veículo movimenta-se para frente.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6B35"/>
                          </a:solidFill>
                          <a:latin typeface="Arial"/>
                        </a:defRPr>
                      </a:pPr>
                      <a:r>
                        <a:t>↓ Ré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O veículo inverte o sentido dos motores.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6B35"/>
                          </a:solidFill>
                          <a:latin typeface="Arial"/>
                        </a:defRPr>
                      </a:pPr>
                      <a:r>
                        <a:t>← Esquerda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O veículo rotaciona para o lado esquerdo.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6B35"/>
                          </a:solidFill>
                          <a:latin typeface="Arial"/>
                        </a:defRPr>
                      </a:pPr>
                      <a:r>
                        <a:t>→ Direita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O veículo rotaciona para o lado direito.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6B35"/>
                          </a:solidFill>
                          <a:latin typeface="Arial"/>
                        </a:defRPr>
                      </a:pPr>
                      <a:r>
                        <a:t>■ Parar / Lanterna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42B"/>
                          </a:solidFill>
                          <a:latin typeface="Calibri"/>
                        </a:defRPr>
                      </a:pPr>
                      <a:r>
                        <a:t>Estabiliza o veículo e ativa a lanterna (alerta).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6858000"/>
          </a:xfrm>
          <a:prstGeom prst="rect">
            <a:avLst/>
          </a:prstGeom>
          <a:solidFill>
            <a:srgbClr val="E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4718304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6B35"/>
                </a:solidFill>
                <a:latin typeface="Arial"/>
              </a:defRPr>
            </a:pPr>
            <a:r>
              <a:t>PROTÓTIPO DE VALIDAÇÃO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Dispositivo Android Antigo</a:t>
            </a:r>
          </a:p>
          <a:p>
            <a:pPr>
              <a:spcAft>
                <a:spcPts val="200"/>
              </a:spcAft>
              <a:defRPr sz="1500" b="1">
                <a:solidFill>
                  <a:srgbClr val="FF6B35"/>
                </a:solidFill>
                <a:latin typeface="Arial"/>
              </a:defRPr>
            </a:pPr>
            <a:r>
              <a:t>Câmera de Alta Resolução:</a:t>
            </a:r>
          </a:p>
          <a:p>
            <a:pPr>
              <a:lnSpc>
                <a:spcPct val="110000"/>
              </a:lnSpc>
              <a:spcAft>
                <a:spcPts val="1500"/>
              </a:spcAft>
              <a:defRPr sz="1400">
                <a:solidFill>
                  <a:srgbClr val="F0F3F8"/>
                </a:solidFill>
                <a:latin typeface="Calibri"/>
              </a:defRPr>
            </a:pPr>
            <a:r>
              <a:t>Usada para capturar os gestos sem necessidade de hardware adicional.</a:t>
            </a:r>
          </a:p>
          <a:p>
            <a:pPr>
              <a:spcAft>
                <a:spcPts val="200"/>
              </a:spcAft>
              <a:defRPr sz="1500" b="1">
                <a:solidFill>
                  <a:srgbClr val="FF6B35"/>
                </a:solidFill>
                <a:latin typeface="Arial"/>
              </a:defRPr>
            </a:pPr>
            <a:r>
              <a:t>Ecrã Embutido:</a:t>
            </a:r>
          </a:p>
          <a:p>
            <a:pPr>
              <a:lnSpc>
                <a:spcPct val="110000"/>
              </a:lnSpc>
              <a:spcAft>
                <a:spcPts val="1500"/>
              </a:spcAft>
              <a:defRPr sz="1400">
                <a:solidFill>
                  <a:srgbClr val="F0F3F8"/>
                </a:solidFill>
                <a:latin typeface="Calibri"/>
              </a:defRPr>
            </a:pPr>
            <a:r>
              <a:t>Perfeito para exibir o agente interativo animado e dar feedback visual imediato.</a:t>
            </a:r>
          </a:p>
          <a:p>
            <a:pPr>
              <a:spcAft>
                <a:spcPts val="200"/>
              </a:spcAft>
              <a:defRPr sz="1500" b="1">
                <a:solidFill>
                  <a:srgbClr val="FF6B35"/>
                </a:solidFill>
                <a:latin typeface="Arial"/>
              </a:defRPr>
            </a:pPr>
            <a:r>
              <a:t>Processamento Local:</a:t>
            </a:r>
          </a:p>
          <a:p>
            <a:pPr>
              <a:lnSpc>
                <a:spcPct val="110000"/>
              </a:lnSpc>
              <a:spcAft>
                <a:spcPts val="1500"/>
              </a:spcAft>
              <a:defRPr sz="1400">
                <a:solidFill>
                  <a:srgbClr val="F0F3F8"/>
                </a:solidFill>
                <a:latin typeface="Calibri"/>
              </a:defRPr>
            </a:pPr>
            <a:r>
              <a:t>Garante o processamento dos modelos de visão computacional diretamente no dispositivo.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1190" y="914400"/>
            <a:ext cx="4718304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7289"/>
                </a:solidFill>
                <a:latin typeface="Arial"/>
              </a:defRPr>
            </a:pPr>
            <a:r>
              <a:t>CONTROLADOR EMBARCADO FUTURO</a:t>
            </a:r>
          </a:p>
          <a:p>
            <a:pPr>
              <a:spcAft>
                <a:spcPts val="2000"/>
              </a:spcAft>
              <a:defRPr sz="2800" b="1">
                <a:solidFill>
                  <a:srgbClr val="1A242B"/>
                </a:solidFill>
                <a:latin typeface="Arial"/>
              </a:defRPr>
            </a:pPr>
            <a:r>
              <a:t>Plataforma de Hardware ESP32</a:t>
            </a:r>
          </a:p>
          <a:p>
            <a:pPr>
              <a:spcAft>
                <a:spcPts val="200"/>
              </a:spcAft>
              <a:defRPr sz="1500" b="1">
                <a:solidFill>
                  <a:srgbClr val="007289"/>
                </a:solidFill>
                <a:latin typeface="Arial"/>
              </a:defRPr>
            </a:pPr>
            <a:r>
              <a:t>GPIO / PWM Avançado:</a:t>
            </a:r>
          </a:p>
          <a:p>
            <a:pPr>
              <a:lnSpc>
                <a:spcPct val="110000"/>
              </a:lnSpc>
              <a:spcAft>
                <a:spcPts val="1500"/>
              </a:spcAft>
              <a:defRPr sz="1400">
                <a:solidFill>
                  <a:srgbClr val="1A242B"/>
                </a:solidFill>
                <a:latin typeface="Calibri"/>
              </a:defRPr>
            </a:pPr>
            <a:r>
              <a:t>Utilizado para controle direto de servo-motores, atuadores físicos e fita LED.</a:t>
            </a:r>
          </a:p>
          <a:p>
            <a:pPr>
              <a:spcAft>
                <a:spcPts val="200"/>
              </a:spcAft>
              <a:defRPr sz="1500" b="1">
                <a:solidFill>
                  <a:srgbClr val="007289"/>
                </a:solidFill>
                <a:latin typeface="Arial"/>
              </a:defRPr>
            </a:pPr>
            <a:r>
              <a:t>Bluetooth Nativo:</a:t>
            </a:r>
          </a:p>
          <a:p>
            <a:pPr>
              <a:lnSpc>
                <a:spcPct val="110000"/>
              </a:lnSpc>
              <a:spcAft>
                <a:spcPts val="1500"/>
              </a:spcAft>
              <a:defRPr sz="1400">
                <a:solidFill>
                  <a:srgbClr val="1A242B"/>
                </a:solidFill>
                <a:latin typeface="Calibri"/>
              </a:defRPr>
            </a:pPr>
            <a:r>
              <a:t>Permite a recepção direta dos pacotes de comando vindos da central de visão.</a:t>
            </a:r>
          </a:p>
          <a:p>
            <a:pPr>
              <a:spcAft>
                <a:spcPts val="200"/>
              </a:spcAft>
              <a:defRPr sz="1500" b="1">
                <a:solidFill>
                  <a:srgbClr val="007289"/>
                </a:solidFill>
                <a:latin typeface="Arial"/>
              </a:defRPr>
            </a:pPr>
            <a:r>
              <a:t>Integração com Sensores:</a:t>
            </a:r>
          </a:p>
          <a:p>
            <a:pPr>
              <a:lnSpc>
                <a:spcPct val="110000"/>
              </a:lnSpc>
              <a:spcAft>
                <a:spcPts val="1500"/>
              </a:spcAft>
              <a:defRPr sz="1400">
                <a:solidFill>
                  <a:srgbClr val="1A242B"/>
                </a:solidFill>
                <a:latin typeface="Calibri"/>
              </a:defRPr>
            </a:pPr>
            <a:r>
              <a:t>Expansão nativa para giroscópios, ultrassom e barômetros de barramento I2C.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486400"/>
            <a:ext cx="94484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 bIns="91440"/>
          <a:lstStyle/>
          <a:p>
            <a:pPr algn="ctr">
              <a:defRPr sz="1300" b="1" i="1">
                <a:solidFill>
                  <a:srgbClr val="007289"/>
                </a:solidFill>
                <a:latin typeface="Calibri"/>
              </a:defRPr>
            </a:pPr>
            <a:r>
              <a:t>Ponto Crítico: A escolha exata da câmera e do framework de visão computacional deve ser exaustivamente validada na fase de prototipagem antes da implementação definitiva no microcontrolador ESP32.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Arial"/>
              </a:defRPr>
            </a:pPr>
            <a:r>
              <a:t>Objetivos do Projeto: Prova de Conceito Sólida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3291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01. Agente Interativo</a:t>
            </a:r>
          </a:p>
          <a:p>
            <a:pPr>
              <a:lnSpc>
                <a:spcPct val="115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Criar um agente interativo funcional no celular, agindo como interface gráfica do ecossistema.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920240"/>
            <a:ext cx="3291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02. Visão Computacional</a:t>
            </a:r>
          </a:p>
          <a:p>
            <a:pPr>
              <a:lnSpc>
                <a:spcPct val="115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Reconhecer de forma estável e robusta um conjunto inicial e prático de gestos das mãos.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3880" y="1920240"/>
            <a:ext cx="3291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03. Controle Bluetooth</a:t>
            </a:r>
          </a:p>
          <a:p>
            <a:pPr>
              <a:lnSpc>
                <a:spcPct val="115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Enviar pacotes de comando serial de baixa latência para controlar o periférico embarcado.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114800"/>
            <a:ext cx="3291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04. Sensor de Ambiente</a:t>
            </a:r>
          </a:p>
          <a:p>
            <a:pPr>
              <a:lnSpc>
                <a:spcPct val="115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Usar a lente da câmera como canal de sensoriamento primário para capturar estados do espaço.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4114800"/>
            <a:ext cx="3291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05. Sinalização Ativa</a:t>
            </a:r>
          </a:p>
          <a:p>
            <a:pPr>
              <a:lnSpc>
                <a:spcPct val="115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Empregar os flashes da lanterna como indicador visual físico dos estados lógicos da central.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4114800"/>
            <a:ext cx="3291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35"/>
                </a:solidFill>
                <a:latin typeface="Arial"/>
              </a:defRPr>
            </a:pPr>
            <a:r>
              <a:t>06. Prontidão para ESP32</a:t>
            </a:r>
          </a:p>
          <a:p>
            <a:pPr>
              <a:lnSpc>
                <a:spcPct val="115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Modelar uma arquitetura de dados desacoplada, perfeitamente preparada para o ESP32.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RESULTADO ESPERADO: Uma central robótica modular que começa como um agente de tela simples e evolui para um controlador físico universal.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Arial"/>
              </a:defRPr>
            </a:pPr>
            <a:r>
              <a:t>Experimentos Imediatos: Transformar a Ideia em 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2011680"/>
            <a:ext cx="731520" cy="731520"/>
          </a:xfrm>
          <a:prstGeom prst="ellipse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289"/>
                </a:solidFill>
                <a:latin typeface="Arial"/>
              </a:defRPr>
            </a:pPr>
            <a:r>
              <a:t>Definição de Gestos Básicos</a:t>
            </a:r>
          </a:p>
          <a:p>
            <a:pPr>
              <a:lnSpc>
                <a:spcPct val="110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Mapear uma biblioteca estável contendo de 5 a 8 gestos elementares das mãos, com foco na facilidade de detecção visual.</a:t>
            </a:r>
          </a:p>
        </p:txBody>
      </p:sp>
      <p:sp>
        <p:nvSpPr>
          <p:cNvPr id="6" name="Oval 5"/>
          <p:cNvSpPr/>
          <p:nvPr/>
        </p:nvSpPr>
        <p:spPr>
          <a:xfrm>
            <a:off x="6355080" y="2011680"/>
            <a:ext cx="731520" cy="731520"/>
          </a:xfrm>
          <a:prstGeom prst="ellipse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201168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289"/>
                </a:solidFill>
                <a:latin typeface="Arial"/>
              </a:defRPr>
            </a:pPr>
            <a:r>
              <a:t>Desenvolvimento do Agente</a:t>
            </a:r>
          </a:p>
          <a:p>
            <a:pPr>
              <a:lnSpc>
                <a:spcPct val="110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Estruturar o agente virtual na tela através de uma máquina de estados robusta e reações lógicas claras.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291840"/>
            <a:ext cx="731520" cy="731520"/>
          </a:xfrm>
          <a:prstGeom prst="ellipse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9184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289"/>
                </a:solidFill>
                <a:latin typeface="Arial"/>
              </a:defRPr>
            </a:pPr>
            <a:r>
              <a:t>Implementação de Visão no Celular</a:t>
            </a:r>
          </a:p>
          <a:p>
            <a:pPr>
              <a:lnSpc>
                <a:spcPct val="110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Integrar os modelos de processamento de imagem locais no ecrã do celular para o reconhecimento estável dos gestos.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91840"/>
            <a:ext cx="731520" cy="731520"/>
          </a:xfrm>
          <a:prstGeom prst="ellipse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29184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289"/>
                </a:solidFill>
                <a:latin typeface="Arial"/>
              </a:defRPr>
            </a:pPr>
            <a:r>
              <a:t>Protocolo Bluetooth</a:t>
            </a:r>
          </a:p>
          <a:p>
            <a:pPr>
              <a:lnSpc>
                <a:spcPct val="110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Especificar um formato simplificado e compacto para o envio serial de dados e instruções de movimento.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72000"/>
            <a:ext cx="731520" cy="731520"/>
          </a:xfrm>
          <a:prstGeom prst="ellipse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57200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289"/>
                </a:solidFill>
                <a:latin typeface="Arial"/>
              </a:defRPr>
            </a:pPr>
            <a:r>
              <a:t>Montagem do Primeiro Protótipo</a:t>
            </a:r>
          </a:p>
          <a:p>
            <a:pPr>
              <a:lnSpc>
                <a:spcPct val="110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Construir e testar um modelo físico do carrinho eletrónico com motores acoplados e receptores sem fio.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4572000"/>
            <a:ext cx="731520" cy="731520"/>
          </a:xfrm>
          <a:prstGeom prst="ellipse">
            <a:avLst/>
          </a:prstGeom>
          <a:solidFill>
            <a:srgbClr val="007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57200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289"/>
                </a:solidFill>
                <a:latin typeface="Arial"/>
              </a:defRPr>
            </a:pPr>
            <a:r>
              <a:t>Medição de Performance</a:t>
            </a:r>
          </a:p>
          <a:p>
            <a:pPr>
              <a:lnSpc>
                <a:spcPct val="110000"/>
              </a:lnSpc>
              <a:defRPr sz="1300">
                <a:solidFill>
                  <a:srgbClr val="1A242B"/>
                </a:solidFill>
                <a:latin typeface="Calibri"/>
              </a:defRPr>
            </a:pPr>
            <a:r>
              <a:t>Validar a latência fim-a-fim, verificar o alcance máximo do sinal sem fio e garantir a confiabilidade sob ruído.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Roadmap Estratégico do Ecossistema</a:t>
            </a:r>
          </a:p>
          <a:p>
            <a:pPr>
              <a:defRPr sz="1800">
                <a:solidFill>
                  <a:srgbClr val="FF6B35"/>
                </a:solidFill>
                <a:latin typeface="Calibri"/>
              </a:defRPr>
            </a:pPr>
            <a:r>
              <a:t>De um agente interativo local para uma central de controle física completa</a:t>
            </a:r>
          </a:p>
        </p:txBody>
      </p:sp>
      <p:sp>
        <p:nvSpPr>
          <p:cNvPr id="3" name="Chevron 2"/>
          <p:cNvSpPr/>
          <p:nvPr/>
        </p:nvSpPr>
        <p:spPr>
          <a:xfrm>
            <a:off x="685800" y="2103120"/>
            <a:ext cx="2468880" cy="2926080"/>
          </a:xfrm>
          <a:prstGeom prst="chevron">
            <a:avLst/>
          </a:prstGeom>
          <a:solidFill>
            <a:srgbClr val="007289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182880" bIns="182880"/>
          <a:lstStyle/>
          <a:p>
            <a:pPr algn="ctr">
              <a:spcAft>
                <a:spcPts val="1500"/>
              </a:spcAft>
              <a:defRPr sz="1800" b="1">
                <a:solidFill>
                  <a:srgbClr val="FF6B35"/>
                </a:solidFill>
                <a:latin typeface="Arial"/>
              </a:defRPr>
            </a:pPr>
            <a:r>
              <a:t>PERCEBER</a:t>
            </a:r>
          </a:p>
          <a:p>
            <a:pPr algn="ctr">
              <a:lnSpc>
                <a:spcPct val="115000"/>
              </a:lnSpc>
              <a:defRPr sz="1300">
                <a:solidFill>
                  <a:srgbClr val="F0F3F8"/>
                </a:solidFill>
                <a:latin typeface="Calibri"/>
              </a:defRPr>
            </a:pPr>
            <a:r>
              <a:t>Captura contínua do ambiente externo por sensores e câmera.</a:t>
            </a:r>
          </a:p>
        </p:txBody>
      </p:sp>
      <p:sp>
        <p:nvSpPr>
          <p:cNvPr id="4" name="Chevron 3"/>
          <p:cNvSpPr/>
          <p:nvPr/>
        </p:nvSpPr>
        <p:spPr>
          <a:xfrm>
            <a:off x="3429000" y="2103120"/>
            <a:ext cx="2468880" cy="2926080"/>
          </a:xfrm>
          <a:prstGeom prst="chevron">
            <a:avLst/>
          </a:prstGeom>
          <a:solidFill>
            <a:srgbClr val="162A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182880" bIns="182880"/>
          <a:lstStyle/>
          <a:p>
            <a:pPr algn="ctr">
              <a:spcAft>
                <a:spcPts val="15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INTERPRETAR</a:t>
            </a:r>
          </a:p>
          <a:p>
            <a:pPr algn="ctr">
              <a:lnSpc>
                <a:spcPct val="115000"/>
              </a:lnSpc>
              <a:defRPr sz="1300">
                <a:solidFill>
                  <a:srgbClr val="F0F3F8"/>
                </a:solidFill>
                <a:latin typeface="Calibri"/>
              </a:defRPr>
            </a:pPr>
            <a:r>
              <a:t>Tratamento de imagem e visão computacional pelo agente virtual.</a:t>
            </a:r>
          </a:p>
        </p:txBody>
      </p:sp>
      <p:sp>
        <p:nvSpPr>
          <p:cNvPr id="5" name="Chevron 4"/>
          <p:cNvSpPr/>
          <p:nvPr/>
        </p:nvSpPr>
        <p:spPr>
          <a:xfrm>
            <a:off x="6172200" y="2103120"/>
            <a:ext cx="2468880" cy="2926080"/>
          </a:xfrm>
          <a:prstGeom prst="chevron">
            <a:avLst/>
          </a:prstGeom>
          <a:solidFill>
            <a:srgbClr val="00728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182880" bIns="182880"/>
          <a:lstStyle/>
          <a:p>
            <a:pPr algn="ctr">
              <a:spcAft>
                <a:spcPts val="15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DECIDIR</a:t>
            </a:r>
          </a:p>
          <a:p>
            <a:pPr algn="ctr">
              <a:lnSpc>
                <a:spcPct val="115000"/>
              </a:lnSpc>
              <a:defRPr sz="1300">
                <a:solidFill>
                  <a:srgbClr val="F0F3F8"/>
                </a:solidFill>
                <a:latin typeface="Calibri"/>
              </a:defRPr>
            </a:pPr>
            <a:r>
              <a:t>Processamento lógico das regras de transição na central de controle.</a:t>
            </a:r>
          </a:p>
        </p:txBody>
      </p:sp>
      <p:sp>
        <p:nvSpPr>
          <p:cNvPr id="6" name="Chevron 5"/>
          <p:cNvSpPr/>
          <p:nvPr/>
        </p:nvSpPr>
        <p:spPr>
          <a:xfrm>
            <a:off x="8915400" y="2103120"/>
            <a:ext cx="2468880" cy="2926080"/>
          </a:xfrm>
          <a:prstGeom prst="chevron">
            <a:avLst/>
          </a:prstGeom>
          <a:solidFill>
            <a:srgbClr val="162A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182880" bIns="182880"/>
          <a:lstStyle/>
          <a:p>
            <a:pPr algn="ctr">
              <a:spcAft>
                <a:spcPts val="15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CONTROLAR</a:t>
            </a:r>
          </a:p>
          <a:p>
            <a:pPr algn="ctr">
              <a:lnSpc>
                <a:spcPct val="115000"/>
              </a:lnSpc>
              <a:defRPr sz="1300">
                <a:solidFill>
                  <a:srgbClr val="F0F3F8"/>
                </a:solidFill>
                <a:latin typeface="Calibri"/>
              </a:defRPr>
            </a:pPr>
            <a:r>
              <a:t>Atuação física de movimento e sinalização via comando sem fios.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Arial"/>
              </a:defRPr>
            </a:pPr>
            <a:r>
              <a:t>PROTÓTIPO HOJE NO CELULAR  👉  PLATAFORMA EMBARCADA INTEGRAL AMANHÃ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